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2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11" d="100"/>
          <a:sy n="211" d="100"/>
        </p:scale>
        <p:origin x="354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6561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ahadg2/train-reservation-system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ahadg2/train-reservation-system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914400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983480"/>
            <a:ext cx="914400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48640" y="1097280"/>
            <a:ext cx="365760" cy="73152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4864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  SOFTWARE ENGINEERING 1    SECTION 173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1554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and</a:t>
            </a:r>
            <a:endParaRPr lang="en-US" sz="4000" dirty="0"/>
          </a:p>
        </p:txBody>
      </p:sp>
      <p:sp>
        <p:nvSpPr>
          <p:cNvPr id="27" name="Text 25"/>
          <p:cNvSpPr/>
          <p:nvPr/>
        </p:nvSpPr>
        <p:spPr>
          <a:xfrm>
            <a:off x="548640" y="21214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Management System</a:t>
            </a:r>
            <a:endParaRPr lang="en-US" sz="4000" dirty="0"/>
          </a:p>
        </p:txBody>
      </p:sp>
      <p:sp>
        <p:nvSpPr>
          <p:cNvPr id="28" name="Text 26"/>
          <p:cNvSpPr/>
          <p:nvPr/>
        </p:nvSpPr>
        <p:spPr>
          <a:xfrm>
            <a:off x="548640" y="2834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centralized platform for managing schedules, passengers and bookings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48640" y="33375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48640" y="35204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Abdullah Waleed bin Maneea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Abdullah Yousef AlDhayan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Abdullah Ibrahim AlOud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Fahad Ali Alghubayshi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86400" y="3337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86400" y="3520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Gufran Ahmed Ansari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486400" y="37490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Imam Mohammad Ibn Saud Islamic University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486400" y="39319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 of Computer and Information Sciences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023360" cy="91440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48132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371600" y="14813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objectives and vision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371600"/>
            <a:ext cx="4023360" cy="91440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54880" y="1371600"/>
            <a:ext cx="73152" cy="9144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83480" y="148132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5669280" y="14813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Setup &amp; Planning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669280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Backlog, sprints, team roles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468880"/>
            <a:ext cx="4023360" cy="91440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" y="2468880"/>
            <a:ext cx="73152" cy="9144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85800" y="257860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371600" y="25786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Design &amp; Architecture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71600" y="29260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 diagrams and layered design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2468880"/>
            <a:ext cx="4023360" cy="91440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754880" y="2468880"/>
            <a:ext cx="73152" cy="9144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983480" y="257860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669280" y="25786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Build, Test &amp; Deploy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669280" y="29260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Implementation, tests and GitHub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566160"/>
            <a:ext cx="4023360" cy="91440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57200" y="3566160"/>
            <a:ext cx="73152" cy="9144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85800" y="367588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371600" y="36758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System &amp; Demo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371600" y="4023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features and screenshots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754880" y="3566160"/>
            <a:ext cx="4023360" cy="91440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754880" y="3566160"/>
            <a:ext cx="73152" cy="9144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983480" y="367588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5669280" y="36758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5669280" y="4023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 and outcomes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 section 173    2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centralized software platform that brings train schedules, passenger records, and reservations into a single secure system — replacing scattered spreadsheets and manual paperwork with one source of truth for railway operations.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2606040" cy="22860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2606040" cy="73152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5800" y="2606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5800" y="31089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Routes, timings, stops and pricing all managed in one place — no more juggling spreadsheets.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2331720"/>
            <a:ext cx="2606040" cy="22860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46120" y="2331720"/>
            <a:ext cx="2606040" cy="73152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474720" y="2606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474720" y="31089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traveller has a profile with ID details and booking history kept consistent across the system.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35040" y="2331720"/>
            <a:ext cx="2606040" cy="22860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035040" y="2331720"/>
            <a:ext cx="2606040" cy="73152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263640" y="2606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263640" y="31089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Seats checked automatically before booking. Cancellations free seats immediately, no double-booking.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section 173    3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Objectives, Goals &amp; Target Users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4114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 schedules, passengers and bookings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admins manage routes, timings and stops easily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Streamline booking, modification and cancellation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Auto-check seat availability — no double bookings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reports for tracking and decisions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GOALS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754880" y="160020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source of truth for railway data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 double bookings via automatic checks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data access for each staff member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reports on bookings and train usage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data backup from day one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703320"/>
            <a:ext cx="8229600" cy="96012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37947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 (Internal Staff Only)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0690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43159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routes &amp; manage settings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963154" y="4063965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Staff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963154" y="429052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passengers, process bookings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035040" y="40690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035040" y="43159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section 173    4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SCRUM APPROACH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Sprints, One System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followed Agile Scrum across three sprints, each building on the last.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645920" y="2880360"/>
            <a:ext cx="5852160" cy="0"/>
          </a:xfrm>
          <a:prstGeom prst="line">
            <a:avLst/>
          </a:prstGeom>
          <a:noFill/>
          <a:ln w="2540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234440" y="2468880"/>
            <a:ext cx="822960" cy="82296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234440" y="254203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57200" y="3429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&amp; Planning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749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modules, backlog, roles, Scrum sheet setup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60520" y="2468880"/>
            <a:ext cx="822960" cy="82296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160520" y="254203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383280" y="3429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Implementation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83280" y="3749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 models, layered architecture, core modules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086600" y="2468880"/>
            <a:ext cx="822960" cy="82296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086600" y="254203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309360" y="3429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Test &amp; Deploy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09360" y="3749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Booking, reports, testing, GitHub release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section 173    5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SPRINT 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Setup &amp; Planning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DELIVERED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 project scope and system boundaries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 main system modules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the Product Backlog with 28 user stories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effort for each task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 roles and responsibilities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the Scrum Excel sheet with sprint tracking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two team meetings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49240" y="1325880"/>
            <a:ext cx="3337560" cy="32004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349240" y="1325880"/>
            <a:ext cx="3337560" cy="73152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532120" y="15087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532120" y="18745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5532120" y="2514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040880" y="18745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7040880" y="2514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532120" y="30632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553212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 planned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040880" y="30632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704088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Meetings held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section 173    6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 SPRINT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Modeling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translated the requirements into a structured design using UML — visual blueprints showing how parts of the system fit together and behave.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2606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73152" cy="11887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Diagram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5603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interactions between Passenger, Admin and 5 main system functions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46120" y="2057400"/>
            <a:ext cx="2606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46120" y="2057400"/>
            <a:ext cx="73152" cy="11887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429000" y="21945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Scenarios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29000" y="25603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flows: Login, Search Trains, Book Ticket, Cancel, Generate Reports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35040" y="2057400"/>
            <a:ext cx="2606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035040" y="2057400"/>
            <a:ext cx="73152" cy="11887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217920" y="21945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Diagram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17920" y="25603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interactions during a Book-a-Ticket flow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3383280"/>
            <a:ext cx="2606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73152" cy="11887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" y="3520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Diagram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38862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structure: classes, attributes, methods and relationships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46120" y="3383280"/>
            <a:ext cx="2606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246120" y="3383280"/>
            <a:ext cx="73152" cy="11887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429000" y="3520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Diagram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429000" y="38862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of booking actions across passenger, system and admin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section 173    7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BEHAVIOR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 &amp; Actors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2377440" cy="12801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7830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21488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trains, book tickets, cancel reservations, view booking history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3017520"/>
            <a:ext cx="2377440" cy="13716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94360" y="3154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" y="35204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schedules, generate reports, monitor occupancy, oversee operations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00400" y="1325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PRIMARY USE CASES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645920"/>
            <a:ext cx="5486400" cy="475488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337560" y="17373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UC-01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69080" y="173736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/ Authenticate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589520" y="1737360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0" y="2212848"/>
            <a:ext cx="5486400" cy="475488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337560" y="23042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UC-02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069080" y="230428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Available Trains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589520" y="230428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00400" y="2779776"/>
            <a:ext cx="5486400" cy="475488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337560" y="287121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UC-03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069080" y="287121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 Ticket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589520" y="287121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00400" y="3351231"/>
            <a:ext cx="5486400" cy="475488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337560" y="343814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UC-04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069080" y="343814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Reservation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589520" y="3438144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00400" y="3913632"/>
            <a:ext cx="5486400" cy="475488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337560" y="400507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UC-05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069080" y="400507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Reports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589520" y="400507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section 173    8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 DESIGN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(N-Tier) Architecture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horizontal layers, each doing one job — clean separation of concerns.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71600" y="1737360"/>
            <a:ext cx="6400800" cy="6217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508760" y="18013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Layer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08760" y="2066544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UI    Booking Staff UI    Admin Dashboard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909560" y="21031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A202"/>
                </a:solidFill>
              </a:rPr>
              <a:t>▼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371600" y="2450592"/>
            <a:ext cx="6400800" cy="621792"/>
          </a:xfrm>
          <a:prstGeom prst="rect">
            <a:avLst/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508760" y="2514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 Layer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08760" y="2779776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Service    Reservation Engine    Access Control   Reports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909560" y="28163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A202"/>
                </a:solidFill>
              </a:rPr>
              <a:t>▼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371600" y="3163824"/>
            <a:ext cx="6400800" cy="62179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508760" y="32278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Access Layer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508760" y="3493008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DAO    Passenger DAO    Booking DAO    Audit Log DAO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09560" y="35295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A202"/>
                </a:solidFill>
              </a:rPr>
              <a:t>▼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371600" y="3877056"/>
            <a:ext cx="6400800" cy="621792"/>
          </a:xfrm>
          <a:prstGeom prst="rect">
            <a:avLst/>
          </a:prstGeom>
          <a:solidFill>
            <a:srgbClr val="8DA9C4"/>
          </a:solidFill>
          <a:ln w="1270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508760" y="394106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Layer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508760" y="4206240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DB    Passengers DB    Reservations DB    Logs DB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talks only to the one directly below it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section 173    9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RATIONALE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Layered Architecture?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40233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62763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34440" y="16184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of Concerns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34440" y="19842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Schedules, passengers and reservations each live in their own components. Changing one doesn't drag the others into the mess.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417320"/>
            <a:ext cx="40233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937760" y="1600200"/>
            <a:ext cx="457200" cy="457200"/>
          </a:xfrm>
          <a:prstGeom prst="ellipse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37760" y="162763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532120" y="16184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Maintainability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532120" y="19842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Bugs stay contained inside their layer. New features don't require rewriting half the system.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017520"/>
            <a:ext cx="40233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40080" y="3200400"/>
            <a:ext cx="457200" cy="457200"/>
          </a:xfrm>
          <a:prstGeom prst="ellipse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" y="322783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34440" y="32186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34440" y="35844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Swapping out the database engine or adding a mobile-facing interface later doesn't touch business logic.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3017520"/>
            <a:ext cx="40233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937760" y="3200400"/>
            <a:ext cx="457200" cy="457200"/>
          </a:xfrm>
          <a:prstGeom prst="ellipse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937760" y="322783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532120" y="32186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Access Control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532120" y="35844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for Admin, Staff and Passenger is enforced in one place — the Business Logic Layer.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section 173    10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SPRINT 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&amp; Tech Stack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IMPLEMENTED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login &amp; role-based authentication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and route management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booking with seat availability checks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cancellation and seat reallocation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 booking information display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 with statistics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generation and data validation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49240" y="1325880"/>
            <a:ext cx="3337560" cy="32004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349240" y="1325880"/>
            <a:ext cx="3337560" cy="73152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532120" y="15087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532120" y="192024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532120" y="2148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   CSS    JavaScript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32120" y="25603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&amp; DB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532120" y="2788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(PostgreSQL)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532120" y="320040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532120" y="3429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532120" y="384048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532120" y="4069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Scrum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section 173    11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ASSURANCE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Approach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Agile, development and testing run side by side. Test cases were prepared for every use case developed across the three sprints, then results were recorded.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4023360" cy="109728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73152" cy="1097280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5800" y="2194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2514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login flows, credential validation, account lockout after failed attempts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2057400"/>
            <a:ext cx="4023360" cy="109728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54880" y="2057400"/>
            <a:ext cx="73152" cy="1097280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83480" y="2194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&amp; Booking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83480" y="2514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search filters, seat availability checks, and booking confirmation logic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337560"/>
            <a:ext cx="4023360" cy="109728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" y="3337560"/>
            <a:ext cx="73152" cy="1097280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85800" y="3474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Cancellation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" y="37947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cancellation rules, seat re-allocation, and time-based restrictions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3337560"/>
            <a:ext cx="4023360" cy="109728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754880" y="3337560"/>
            <a:ext cx="73152" cy="1097280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983480" y="3474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983480" y="37947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report generation, date-range filtering, and statistics accuracy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section 173    12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RELEASE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GitHub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functioning release of the Train Schedule and Reservation Management System is published to a public GitHub repository, with all team members added as collaborators.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148840"/>
            <a:ext cx="8229600" cy="777240"/>
          </a:xfrm>
          <a:prstGeom prst="rect">
            <a:avLst/>
          </a:prstGeom>
          <a:solidFill>
            <a:srgbClr val="13315C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22402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900" dirty="0"/>
          </a:p>
        </p:txBody>
      </p:sp>
      <p:sp>
        <p:nvSpPr>
          <p:cNvPr id="8" name="Text 6">
            <a:hlinkClick r:id="rId3"/>
          </p:cNvPr>
          <p:cNvSpPr/>
          <p:nvPr/>
        </p:nvSpPr>
        <p:spPr>
          <a:xfrm>
            <a:off x="685800" y="2468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github.com/fahadg2/train-reservation-system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154680"/>
            <a:ext cx="1874520" cy="1371600"/>
          </a:xfrm>
          <a:prstGeom prst="rect">
            <a:avLst/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3154680"/>
            <a:ext cx="187452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333756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57200" y="40233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37460" y="3154680"/>
            <a:ext cx="1874520" cy="1371600"/>
          </a:xfrm>
          <a:prstGeom prst="rect">
            <a:avLst/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537460" y="3154680"/>
            <a:ext cx="187452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537460" y="333756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2537460" y="40233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17720" y="3154680"/>
            <a:ext cx="1874520" cy="1371600"/>
          </a:xfrm>
          <a:prstGeom prst="rect">
            <a:avLst/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617720" y="3154680"/>
            <a:ext cx="187452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617720" y="333756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4617720" y="40233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Collaborators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697980" y="3154680"/>
            <a:ext cx="1874520" cy="1371600"/>
          </a:xfrm>
          <a:prstGeom prst="rect">
            <a:avLst/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697980" y="3154680"/>
            <a:ext cx="187452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697980" y="333756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75%+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6697980" y="40233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section 173    13 / 16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1C7293"/>
                </a:solidFill>
                <a:latin typeface="Calibri"/>
              </a:rPr>
              <a:t>BEYOND THE REPO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Calibri"/>
              </a:rPr>
              <a:t>Custom Domain Deployment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0B2545"/>
                </a:solidFill>
                <a:latin typeface="Calibri"/>
              </a:rPr>
              <a:t>We took the project a step further by hosting the system on a custom domain — making it accessible to anyone, anywhere, with a clean professional URL.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74519"/>
            <a:ext cx="8229600" cy="7772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874519"/>
            <a:ext cx="8229600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011680"/>
            <a:ext cx="7772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300">
                <a:solidFill>
                  <a:srgbClr val="F0A202"/>
                </a:solidFill>
                <a:latin typeface="Calibri"/>
              </a:rPr>
              <a:t>LIVE WEB ADDRESS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40280"/>
            <a:ext cx="77724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800" b="1" i="0" dirty="0">
                <a:solidFill>
                  <a:srgbClr val="FFFFFF"/>
                </a:solidFill>
                <a:latin typeface="Consolas"/>
              </a:rPr>
              <a:t>https://</a:t>
            </a:r>
            <a:r>
              <a:rPr lang="en-US" b="1" dirty="0">
                <a:solidFill>
                  <a:srgbClr val="FFFFFF"/>
                </a:solidFill>
                <a:latin typeface="Consolas"/>
              </a:rPr>
              <a:t>swe.lxsnvfx.com</a:t>
            </a:r>
            <a:endParaRPr sz="1800" b="1" i="0" dirty="0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7200" y="2834640"/>
            <a:ext cx="2606040" cy="1600200"/>
          </a:xfrm>
          <a:prstGeom prst="rect">
            <a:avLst/>
          </a:prstGeom>
          <a:solidFill>
            <a:srgbClr val="EE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2834640"/>
            <a:ext cx="73152" cy="16002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97180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B2545"/>
                </a:solidFill>
                <a:latin typeface="Calibri"/>
              </a:rPr>
              <a:t>Professional Branding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37560"/>
            <a:ext cx="22860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C6F82"/>
                </a:solidFill>
                <a:latin typeface="Calibri"/>
              </a:rPr>
              <a:t>A memorable custom URL replaces generic hosting links — building trust and giving the project a real-world identity beyond a GitHub page.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6120" y="2834640"/>
            <a:ext cx="2606040" cy="1600200"/>
          </a:xfrm>
          <a:prstGeom prst="rect">
            <a:avLst/>
          </a:prstGeom>
          <a:solidFill>
            <a:srgbClr val="EE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246120" y="2834640"/>
            <a:ext cx="73152" cy="16002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74720" y="297180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B2545"/>
                </a:solidFill>
                <a:latin typeface="Calibri"/>
              </a:rPr>
              <a:t>Easy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337560"/>
            <a:ext cx="22860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C6F82"/>
                </a:solidFill>
                <a:latin typeface="Calibri"/>
              </a:rPr>
              <a:t>Anyone can reach the system in one click. No cloning, no setup, no install — just open the link in any browser, on any device.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834640"/>
            <a:ext cx="2606040" cy="1600200"/>
          </a:xfrm>
          <a:prstGeom prst="rect">
            <a:avLst/>
          </a:prstGeom>
          <a:solidFill>
            <a:srgbClr val="EE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035040" y="2834640"/>
            <a:ext cx="73152" cy="16002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63640" y="297180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B2545"/>
                </a:solidFill>
                <a:latin typeface="Calibri"/>
              </a:rPr>
              <a:t>Production Ready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337560"/>
            <a:ext cx="2286000" cy="507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dirty="0">
                <a:solidFill>
                  <a:srgbClr val="5C6F82"/>
                </a:solidFill>
                <a:latin typeface="Calibri"/>
              </a:rPr>
              <a:t>Hosted with proper DNS routing and HTTPS, so the deployment behaves like a real product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544568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1">
                <a:solidFill>
                  <a:srgbClr val="F0A202"/>
                </a:solidFill>
                <a:latin typeface="Calibri"/>
              </a:rPr>
              <a:t>From a local script to a globally accessible platform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7200" y="4846320"/>
            <a:ext cx="8229600" cy="0"/>
          </a:xfrm>
          <a:prstGeom prst="line">
            <a:avLst/>
          </a:prstGeom>
          <a:ln w="6350">
            <a:solidFill>
              <a:srgbClr val="8DA9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F82"/>
                </a:solidFill>
                <a:latin typeface="Calibri"/>
              </a:rPr>
              <a:t>Train Schedule &amp; Reservation Management System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4892040"/>
            <a:ext cx="27432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 dirty="0">
                <a:solidFill>
                  <a:srgbClr val="5C6F82"/>
                </a:solidFill>
                <a:latin typeface="Calibri"/>
              </a:rPr>
              <a:t>CS1350  </a:t>
            </a: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r>
              <a:rPr sz="900" b="0" i="0" dirty="0">
                <a:solidFill>
                  <a:srgbClr val="5C6F82"/>
                </a:solidFill>
                <a:latin typeface="Calibri"/>
              </a:rPr>
              <a:t> 173    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Outcomes &amp; Lessons Learned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4023360" cy="141732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85800" y="1645920"/>
            <a:ext cx="411480" cy="4114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609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34440" y="1645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Works When You Commit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34440" y="20116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sprints, clear backlog, regular meetings. Splitting one big problem into 28 stories made it manageable.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417320"/>
            <a:ext cx="4023360" cy="141732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983480" y="1645920"/>
            <a:ext cx="411480" cy="4114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83480" y="1609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532120" y="1645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Before Code Pays Off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532120" y="20116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 diagrams and architecture decisions in Phase 2 prevented messy rewrites in Phase 3.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017520"/>
            <a:ext cx="4023360" cy="141732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85800" y="3246120"/>
            <a:ext cx="411480" cy="4114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85800" y="32095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34440" y="3246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Architecture Scales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34440" y="36118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separation made it easy to swap database (Supabase) without touching UI or business logic.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3017520"/>
            <a:ext cx="4023360" cy="141732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983480" y="3246120"/>
            <a:ext cx="411480" cy="4114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983480" y="32095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532120" y="3246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Teamwork &amp; Documentation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532120" y="36118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Scrum, shared docs and GitHub kept four people pointing in the same direction throughout.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section 173    15 / 16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97680"/>
            <a:ext cx="914400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434840"/>
            <a:ext cx="914400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48640" y="1371600"/>
            <a:ext cx="365760" cy="73152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48640" y="15544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26" name="Text 24"/>
          <p:cNvSpPr/>
          <p:nvPr/>
        </p:nvSpPr>
        <p:spPr>
          <a:xfrm>
            <a:off x="54864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400" dirty="0"/>
          </a:p>
        </p:txBody>
      </p:sp>
      <p:sp>
        <p:nvSpPr>
          <p:cNvPr id="27" name="Text 25">
            <a:hlinkClick r:id="rId3"/>
          </p:cNvPr>
          <p:cNvSpPr/>
          <p:nvPr/>
        </p:nvSpPr>
        <p:spPr>
          <a:xfrm>
            <a:off x="548640" y="3246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u="sng" dirty="0">
                <a:solidFill>
                  <a:srgbClr val="8DA9C4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github.com/fahadg2/train-reservation-system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" y="3703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</a:t>
            </a:r>
            <a:r>
              <a:rPr lang="en-US" sz="1200" i="1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173    </a:t>
            </a: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Software Engineering </a:t>
            </a:r>
            <a:r>
              <a:rPr lang="en-US" sz="1200" i="1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 </a:t>
            </a: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Gufran Ahmed Ansari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</TotalTime>
  <Words>1391</Words>
  <Application>Microsoft Office PowerPoint</Application>
  <PresentationFormat>On-screen Show (16:9)</PresentationFormat>
  <Paragraphs>273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Train Schedule and Reservation Management System</dc:title>
  <dc:subject>PptxGenJS Presentation</dc:subject>
  <dc:creator>Team 173 - IMSIU</dc:creator>
  <cp:lastModifiedBy>فهد بن علي بن عبدالرحمن الغبيشي</cp:lastModifiedBy>
  <cp:revision>18</cp:revision>
  <dcterms:created xsi:type="dcterms:W3CDTF">2026-05-16T00:04:00Z</dcterms:created>
  <dcterms:modified xsi:type="dcterms:W3CDTF">2026-05-17T04:08:09Z</dcterms:modified>
</cp:coreProperties>
</file>